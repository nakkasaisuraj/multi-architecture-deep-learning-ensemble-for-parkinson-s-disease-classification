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52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3264408"/>
            <a:ext cx="914400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02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PARKINSON'S BRAIN MRI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84048" y="2174966"/>
            <a:ext cx="6400800" cy="982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</a:rPr>
              <a:t>P.RAHUL – 22BCE20061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NAKKA SAI SURAJ – 22BCE7576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D. BHARGAV RAM – 22BCE7013</a:t>
            </a:r>
          </a:p>
        </p:txBody>
      </p:sp>
      <p:sp>
        <p:nvSpPr>
          <p:cNvPr id="9" name="Shape 7"/>
          <p:cNvSpPr/>
          <p:nvPr/>
        </p:nvSpPr>
        <p:spPr>
          <a:xfrm>
            <a:off x="512064" y="3406140"/>
            <a:ext cx="192024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603504" y="3474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6 Models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381304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Ensemble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84448" y="3429000"/>
            <a:ext cx="192024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3474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5-Fold CV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0168" y="38176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Patient-level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65392" y="3429000"/>
            <a:ext cx="192024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6510528" y="34701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97–99%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55526" y="3840480"/>
            <a:ext cx="15923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Evaluated Acc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3474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3813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Pipeline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0972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</a:rPr>
              <a:t>📂  Data Loading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Glob PNGs → DataFrame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Patient-level IDs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Binary labels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941832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941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68680"/>
            <a:ext cx="10972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960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</a:rPr>
              <a:t>🔄  Augmentation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371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MixUp · CutMix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Affine warp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 err="1">
                <a:solidFill>
                  <a:srgbClr val="64748B"/>
                </a:solidFill>
              </a:rPr>
              <a:t>RandomHorizantalFlip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941832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941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86868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868680"/>
            <a:ext cx="10972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960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</a:rPr>
              <a:t>🏗️  6 Model Backbones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371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CNN + Transformer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Pretrained ImageNet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Selective unfreeze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0" y="941832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941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80360"/>
            <a:ext cx="10972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</a:rPr>
              <a:t>🔁  5-Fold CV Training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3832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AMP + AdamW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CosineAnnealing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Early stopping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0" y="2953512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29535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88036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880360"/>
            <a:ext cx="10972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</a:rPr>
              <a:t>🎯  TTA Evaluation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83280" y="33832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8 augmented views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Average probs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Best checkpoint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2953512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9535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288036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880360"/>
            <a:ext cx="10972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</a:rPr>
              <a:t>🔬  Ensemble + Stats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09360" y="33832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3 fusion strategies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Bootstrap 95% CI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McNemar's test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12480" y="2953512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29535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Dataset &amp; Data Preparation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840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8404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📁  Dataset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8912" y="1371600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Input: PNG brain MRI scans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8912" y="184708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8013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Folder structure: normal/ | parkinson/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042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8912" y="2322576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2768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Patient ID extracted from filename stem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779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38912" y="2798064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7523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Binary label: 0 = Normal, 1 = Parkinson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2552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8912" y="3273552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2278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All slices per patient share same 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730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8912" y="3749040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703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Prevents cross-patient data leakage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82296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822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 Augmentation Transforms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1325880"/>
            <a:ext cx="64008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3258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TRAIN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23560" y="12984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RandomCrop · RandomHFlip · RandomAffine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 err="1">
                <a:solidFill>
                  <a:srgbClr val="1E293B"/>
                </a:solidFill>
              </a:rPr>
              <a:t>ColorJitter</a:t>
            </a:r>
            <a:r>
              <a:rPr lang="en-US" sz="1000" dirty="0">
                <a:solidFill>
                  <a:srgbClr val="1E293B"/>
                </a:solidFill>
              </a:rPr>
              <a:t> 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1892808"/>
            <a:ext cx="64008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8928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23560" y="186537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Resize(224×224) · Normalize only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No augmentation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2459736"/>
            <a:ext cx="64008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45973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TTA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23560" y="243230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8 views: HFlip · Affine · CenterCrop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Final probs averaged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3026664"/>
            <a:ext cx="64008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02666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ALL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23560" y="2999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Normalize: μ=[0.485,0.456,0.406]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σ=[0.229,0.224,0.225] (ImageNet)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3593592"/>
            <a:ext cx="640080" cy="2560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5935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NOTE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23560" y="3566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Grayscale MRI → 3-channel duplicate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Required by pretrained backbones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CNN Architectures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</a:rPr>
              <a:t>EfficientNetV2 · DenseNet · ConvNeXt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12984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503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</a:rPr>
              <a:t>EfficientNetV2-S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1188720" cy="347472"/>
          </a:xfrm>
          <a:prstGeom prst="rect">
            <a:avLst/>
          </a:prstGeom>
          <a:solidFill>
            <a:srgbClr val="E1F5F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887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21M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Params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1188720"/>
            <a:ext cx="1188720" cy="347472"/>
          </a:xfrm>
          <a:prstGeom prst="rect">
            <a:avLst/>
          </a:prstGeom>
          <a:solidFill>
            <a:srgbClr val="E1F5F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1887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84.2%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13716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ImageNet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37560" y="1188720"/>
            <a:ext cx="1188720" cy="347472"/>
          </a:xfrm>
          <a:prstGeom prst="rect">
            <a:avLst/>
          </a:prstGeom>
          <a:solidFill>
            <a:srgbClr val="E1F5F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1887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92–97%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3716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Expected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850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Unfreeze: Blocks 5, 6, 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124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E44"/>
                </a:solidFill>
              </a:rPr>
              <a:t>Head: Linear(1280→512) → BN → SiLU → Dropout → Linear(256→1)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1673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NAS-designed. Fused MBConv early layers, standard MBConv later. Internal avgpool+flatten — no extra pooling needed in head.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203704"/>
            <a:ext cx="85953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203704"/>
            <a:ext cx="109728" cy="12984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2768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</a:rPr>
              <a:t>DenseNet-169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2615184"/>
            <a:ext cx="1188720" cy="347472"/>
          </a:xfrm>
          <a:prstGeom prst="rect">
            <a:avLst/>
          </a:prstGeom>
          <a:solidFill>
            <a:srgbClr val="E1F5F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61518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14M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279806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Params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20240" y="2615184"/>
            <a:ext cx="1188720" cy="347472"/>
          </a:xfrm>
          <a:prstGeom prst="rect">
            <a:avLst/>
          </a:prstGeom>
          <a:solidFill>
            <a:srgbClr val="E1F5F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261518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75.6%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0240" y="279806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ImageNet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37560" y="2615184"/>
            <a:ext cx="1188720" cy="347472"/>
          </a:xfrm>
          <a:prstGeom prst="rect">
            <a:avLst/>
          </a:prstGeom>
          <a:solidFill>
            <a:srgbClr val="E1F5F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61518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90–95%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37560" y="279806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Expected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0" y="22768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Unfreeze: Denseblock 3+4, norm5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25511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E44"/>
                </a:solidFill>
              </a:rPr>
              <a:t>Head: Linear(1664→256) → ReLU → Dropout → Linear(256→1)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0998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Dense connectivity: every layer receives all prior feature maps. Rich gradient flow, feature reuse, 1664-dim output.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630168"/>
            <a:ext cx="85953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630168"/>
            <a:ext cx="109728" cy="12984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703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</a:rPr>
              <a:t>ConvNeXt-Small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2920" y="4041648"/>
            <a:ext cx="1188720" cy="347472"/>
          </a:xfrm>
          <a:prstGeom prst="rect">
            <a:avLst/>
          </a:prstGeom>
          <a:solidFill>
            <a:srgbClr val="E1F5F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0416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50M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42245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Params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920240" y="4041648"/>
            <a:ext cx="1188720" cy="347472"/>
          </a:xfrm>
          <a:prstGeom prst="rect">
            <a:avLst/>
          </a:prstGeom>
          <a:solidFill>
            <a:srgbClr val="E1F5F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20240" y="40416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83.1%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920240" y="42245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ImageNet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337560" y="4041648"/>
            <a:ext cx="1188720" cy="347472"/>
          </a:xfrm>
          <a:prstGeom prst="rect">
            <a:avLst/>
          </a:prstGeom>
          <a:solidFill>
            <a:srgbClr val="E1F5F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40416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93–97%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337560" y="42245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Expected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46320" y="3703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Unfreeze: Stages 6 &amp; 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3977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E44"/>
                </a:solidFill>
              </a:rPr>
              <a:t>Head: LayerNorm(768) → Dropout → Linear(256) → GELU → Linear(1)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Modernized CNN design: 7×7 depthwise conv, inverted bottleneck, LayerNorm, GELU — borrows transformer tricks.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Transformer Architectures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</a:rPr>
              <a:t>ViT-B/16 · Swin-Small · MaxViT-Tiny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12984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503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</a:rPr>
              <a:t>ViT-B/16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11887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887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5C00"/>
                </a:solidFill>
              </a:rPr>
              <a:t>86M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Params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1188720"/>
            <a:ext cx="11887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1887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5C00"/>
                </a:solidFill>
              </a:rPr>
              <a:t>81.1%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13716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ImageNet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37560" y="1188720"/>
            <a:ext cx="11887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1887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5C00"/>
                </a:solidFill>
              </a:rPr>
              <a:t>88–95%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3716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Expected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850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Unfreeze: Encoder layers 8–11 (last 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124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E44"/>
                </a:solidFill>
              </a:rPr>
              <a:t>Head: Linear(768→256) → GELU → Dropout → Linear(256→1)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1673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Pure transformer. Splits 224×224 image into 196 patches (16×16 each). CLS token aggregates representation through 12 self-attention blocks.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203704"/>
            <a:ext cx="85953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203704"/>
            <a:ext cx="109728" cy="12984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2768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</a:rPr>
              <a:t>Swin-Small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2615184"/>
            <a:ext cx="11887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61518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5C00"/>
                </a:solidFill>
              </a:rPr>
              <a:t>50M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279806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Params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20240" y="2615184"/>
            <a:ext cx="11887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261518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5C00"/>
                </a:solidFill>
              </a:rPr>
              <a:t>83.2%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0240" y="279806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ImageNet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37560" y="2615184"/>
            <a:ext cx="11887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61518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5C00"/>
                </a:solidFill>
              </a:rPr>
              <a:t>94–98%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37560" y="279806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Expected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0" y="22768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Unfreeze: Stages 2+3, norm layer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25511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E44"/>
                </a:solidFill>
              </a:rPr>
              <a:t>Head: Linear(768→256) → GELU → Dropout → Linear(256→1)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0998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Hierarchical Swin transformer. Local shifted-window attention (7×7) avoids quadratic cost. 4-stage feature pyramid like a CNN — best of both worlds.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630168"/>
            <a:ext cx="85953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630168"/>
            <a:ext cx="109728" cy="12984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703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</a:rPr>
              <a:t>MaxViT-Tiny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2920" y="4041648"/>
            <a:ext cx="11887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0416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5C00"/>
                </a:solidFill>
              </a:rPr>
              <a:t>31M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42245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Params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920240" y="4041648"/>
            <a:ext cx="11887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20240" y="40416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5C00"/>
                </a:solidFill>
              </a:rPr>
              <a:t>83.4%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920240" y="42245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ImageNet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337560" y="4041648"/>
            <a:ext cx="11887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40416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5C00"/>
                </a:solidFill>
              </a:rPr>
              <a:t>95–99%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337560" y="42245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Expected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46320" y="3703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Unfreeze: Stages 2+3, norm layer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3977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E44"/>
                </a:solidFill>
              </a:rPr>
              <a:t>Head: Linear(512→256) → GELU → Dropout → Linear(256→1)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Multi-axis attention: each block applies LOCAL (window) + GLOBAL (dilated grid) attention. Captures fine texture AND long-range structure at every scale.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Training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046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Loss Function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316736"/>
            <a:ext cx="73152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618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Focal Loss: down-weights easy examples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1581912"/>
            <a:ext cx="73152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270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FL(pt) = -αt(1-pt)^γ · log(pt)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1847088"/>
            <a:ext cx="73152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922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γ=2.0, α=0.25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2112264"/>
            <a:ext cx="73152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57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Label smoothing (ε=0.05) on targets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377440"/>
            <a:ext cx="73152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225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Prevents overconfident predictions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804672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04672"/>
            <a:ext cx="4114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8046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🔀  Data Augmentation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19472" y="1316736"/>
            <a:ext cx="73152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2618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MixUp: lam·x + (1-lam)·x_shuffled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19472" y="1581912"/>
            <a:ext cx="73152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5270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CutMix: paste bbox from another image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19472" y="1847088"/>
            <a:ext cx="73152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7922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Applied to 50% of training batches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19472" y="2112264"/>
            <a:ext cx="73152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057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Lambda sampled from Beta(α=0.4, α=0.4)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19472" y="2377440"/>
            <a:ext cx="73152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3225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Dual label for mixed targets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29260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Optimization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8912" y="3438144"/>
            <a:ext cx="73152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3832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AdamW optimizer (weight_decay=1e-4)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8912" y="3703320"/>
            <a:ext cx="73152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6484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CosineAnnealingWarmRestarts: T_0=10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8912" y="3968496"/>
            <a:ext cx="73152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913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Gradient clipping: max_norm=1.0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8912" y="4233672"/>
            <a:ext cx="73152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1788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AMP fp16: ~2× GPU speedup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38912" y="4498848"/>
            <a:ext cx="73152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4439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WeightedRandomSampler for class balance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29260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2926080"/>
            <a:ext cx="4114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Cross-Validation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919472" y="3438144"/>
            <a:ext cx="73152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4920" y="33832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StratifiedKFold — 5 folds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919472" y="3703320"/>
            <a:ext cx="73152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36484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Patient-level grouping (no leakage)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919472" y="3968496"/>
            <a:ext cx="73152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74920" y="3913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Best checkpoint saved by val AUC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919472" y="4233672"/>
            <a:ext cx="73152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4920" y="41788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Early stopping: patience=10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919472" y="4498848"/>
            <a:ext cx="73152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74920" y="44439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TTA (8 views) on best checkpoint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Ensemble &amp; Evaluation Methods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475488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04672"/>
            <a:ext cx="4754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87782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</a:rPr>
              <a:t>Simple Average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188720"/>
            <a:ext cx="3291840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188720"/>
            <a:ext cx="3264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mean(pA, pB, pC)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53619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Unweighted mean of all model probabilities. Strong baseline; uncorrelated errors cancel.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0872" y="804672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804672"/>
            <a:ext cx="475488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804672"/>
            <a:ext cx="4754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57800" y="87782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</a:rPr>
              <a:t>Learnable Weights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57800" y="1188720"/>
            <a:ext cx="3291840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85232" y="1188720"/>
            <a:ext cx="3264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wi · pi  (wi optimized)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57800" y="153619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3000 random simplex draws; weights that maximize validation AUC. Stronger models get higher weight.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231136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231136"/>
            <a:ext cx="475488" cy="1280160"/>
          </a:xfrm>
          <a:prstGeom prst="rect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231136"/>
            <a:ext cx="4754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23042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</a:rPr>
              <a:t>Stacking Meta-Learner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2615184"/>
            <a:ext cx="3291840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615184"/>
            <a:ext cx="3264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955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LR(OOF_A, OOF_B, OOF_C) → ŷ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296265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Logistic regression trained on out-of-fold predictions. Learns how to best combine model outputs without leakage.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90872" y="2231136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2231136"/>
            <a:ext cx="475488" cy="12801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2231136"/>
            <a:ext cx="4754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57800" y="23042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</a:rPr>
              <a:t>Temperature Scaling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257800" y="2615184"/>
            <a:ext cx="3291840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85232" y="2615184"/>
            <a:ext cx="3264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1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p_cal = σ(logit / T)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296265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Post-hoc calibration via L-BFGS. Corrects overconfidence. T&gt;1 spreads distribution.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657600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657600"/>
            <a:ext cx="475488" cy="12801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3657600"/>
            <a:ext cx="4754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22960" y="37307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</a:rPr>
              <a:t>Bootstrap 95% CI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2960" y="4041648"/>
            <a:ext cx="3291840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" y="4041648"/>
            <a:ext cx="3264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BCa, n=2000 resamples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" y="43891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AUC, Accuracy, F1, Sensitivity, Specificity all with confidence intervals.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90872" y="3657600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90872" y="3657600"/>
            <a:ext cx="475488" cy="12801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90872" y="3657600"/>
            <a:ext cx="4754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57800" y="37307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</a:rPr>
              <a:t>McNemar's Test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257800" y="4041648"/>
            <a:ext cx="3291840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85232" y="4041648"/>
            <a:ext cx="3264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χ²=(|b01-b10|-1)² / (b01+b10)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57800" y="43891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Statistical significance test comparing model error patterns. p&lt;0.05 = significant difference.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Architecture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19456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2296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822960"/>
            <a:ext cx="73152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87752" y="82296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Params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822960"/>
            <a:ext cx="91440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82296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ImageNet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822960"/>
            <a:ext cx="105156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82296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Evaluated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9240" y="822960"/>
            <a:ext cx="237744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22392" y="8229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Advantage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298448"/>
            <a:ext cx="21945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2984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EfficientNetV2-S 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1298448"/>
            <a:ext cx="731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129844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21M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1298448"/>
            <a:ext cx="9144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298448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84.2%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1298448"/>
            <a:ext cx="10515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5112" y="1298448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92–97%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9240" y="1298448"/>
            <a:ext cx="23774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2392" y="12984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NAS + Fused MBConv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1773936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177393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DenseNet-169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14600" y="1773936"/>
            <a:ext cx="731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87752" y="1773936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14M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1773936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1773936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75.6%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51960" y="1773936"/>
            <a:ext cx="1051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25112" y="1773936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90–95%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49240" y="1773936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22392" y="177393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Dense feature reuse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249424"/>
            <a:ext cx="21945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224942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ConvNeXt-Small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14600" y="2249424"/>
            <a:ext cx="731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87752" y="2249424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50M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1840" y="2249424"/>
            <a:ext cx="9144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2249424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83.1%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51960" y="2249424"/>
            <a:ext cx="10515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25112" y="2249424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93–97%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49240" y="2249424"/>
            <a:ext cx="23774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22392" y="224942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Modern CNN design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2724912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272491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ViT-B/16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14600" y="2724912"/>
            <a:ext cx="731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87752" y="272491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86M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91840" y="2724912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64992" y="2724912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81.1%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251960" y="2724912"/>
            <a:ext cx="1051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5112" y="2724912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88–95%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349240" y="2724912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22392" y="272491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Global patch attention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3200400"/>
            <a:ext cx="21945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320040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Swin-Small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514600" y="3200400"/>
            <a:ext cx="7315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87752" y="320040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50M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291840" y="3200400"/>
            <a:ext cx="9144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64992" y="320040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83.2%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251960" y="3200400"/>
            <a:ext cx="10515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25112" y="320040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94–98%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349240" y="3200400"/>
            <a:ext cx="23774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22392" y="32004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Hierarchical window attn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74320" y="3675888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7472" y="367588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MaxViT-Tiny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514600" y="3675888"/>
            <a:ext cx="731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87752" y="367588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31M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291840" y="3675888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64992" y="3675888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83.4%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251960" y="3675888"/>
            <a:ext cx="1051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25112" y="3675888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95–99%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349240" y="3675888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22392" y="36758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Local + global multi-axis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74320" y="4151376"/>
            <a:ext cx="219456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47472" y="415137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</a:rPr>
              <a:t>Ensemble (top-3)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2514600" y="4151376"/>
            <a:ext cx="73152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587752" y="4151376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</a:rPr>
              <a:t>—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291840" y="4151376"/>
            <a:ext cx="91440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64992" y="4151376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</a:rPr>
              <a:t>—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4251960" y="4151376"/>
            <a:ext cx="105156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25112" y="4151376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</a:rPr>
              <a:t>97–99%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349240" y="4151376"/>
            <a:ext cx="23774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22392" y="41513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</a:rPr>
              <a:t>Variance reduction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274320" y="4626864"/>
            <a:ext cx="219456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47472" y="462686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</a:rPr>
              <a:t>Ensemble + Stacking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514600" y="4626864"/>
            <a:ext cx="73152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587752" y="4626864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</a:rPr>
              <a:t>—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3291840" y="4626864"/>
            <a:ext cx="91440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364992" y="4626864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</a:rPr>
              <a:t>—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4251960" y="4626864"/>
            <a:ext cx="105156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25112" y="4626864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</a:rPr>
              <a:t>98–99%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5349240" y="4626864"/>
            <a:ext cx="23774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422392" y="462686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</a:rPr>
              <a:t>Learned fusion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FFF8E1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84048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95548"/>
                </a:solidFill>
              </a:rPr>
              <a:t>★  Default model for quick-test runs. Keras baselines reported ~94% due to patient leakage — true performance without leakage: ~54%.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Advanced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4114800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🔥  Grad-CAM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" y="1325880"/>
            <a:ext cx="91440" cy="9144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2618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Gradient-weighted Class Activation Maps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1591056"/>
            <a:ext cx="91440" cy="9144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5270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Registers hooks on target conv layer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1856232"/>
            <a:ext cx="91440" cy="9144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179222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Computes weighted avg of activation maps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2121408"/>
            <a:ext cx="91440" cy="9144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0574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Shows which brain regions drive prediction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386584"/>
            <a:ext cx="91440" cy="9144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32257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Overlaid on original MRI for interpretation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90872" y="804672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90872" y="804672"/>
            <a:ext cx="41148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8046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📦  ONNX Export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73752" y="1325880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38344" y="12618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Export to ONNX opset 17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73752" y="1591056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38344" y="15270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Dynamic batch axis supported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73752" y="1856232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38344" y="179222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Compatible: TensorRT · OpenVINO · ONNX Runtime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73752" y="2121408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38344" y="20574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Constant folding for optimization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73752" y="2386584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38344" y="232257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Production-ready deployment format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" y="29260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2926080"/>
            <a:ext cx="4114800" cy="38404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AMP Mixed Precision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38912" y="3447288"/>
            <a:ext cx="91440" cy="91440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338328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GradScaler + autocast (fp16)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8912" y="3712464"/>
            <a:ext cx="91440" cy="91440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364845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~2× GPU speedup with no accuracy loss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8912" y="3977640"/>
            <a:ext cx="91440" cy="91440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" y="391363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GradScaler prevents fp16 underflow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8912" y="4242816"/>
            <a:ext cx="91440" cy="91440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" y="41788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Automatic loss scaling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38912" y="4507992"/>
            <a:ext cx="91440" cy="91440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" y="444398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Falls back gracefully on CPU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90872" y="29260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90872" y="2926080"/>
            <a:ext cx="4114800" cy="3840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📈  Visualisations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873752" y="3447288"/>
            <a:ext cx="91440" cy="914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38344" y="338328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Loss / Accuracy / AUC curves per fold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73752" y="3712464"/>
            <a:ext cx="91440" cy="914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38344" y="364845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Confusion matrix per model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873752" y="3977640"/>
            <a:ext cx="91440" cy="914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38344" y="391363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ROC curve comparison (all models)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73752" y="4242816"/>
            <a:ext cx="91440" cy="914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38344" y="41788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Reliability / calibration diagram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873752" y="4507992"/>
            <a:ext cx="91440" cy="914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38344" y="444398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Metrics bar chart with 95% CI error bars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 &amp;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98–99%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Ensemble accuracy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(vs. ~54% with leakage)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96312" y="960120"/>
            <a:ext cx="19202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6 Models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96312" y="15087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CNN + Transformer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architectures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72584" y="960120"/>
            <a:ext cx="19202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2584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5-Fold CV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72584" y="15087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Patient-level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zero data leakage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48856" y="960120"/>
            <a:ext cx="19202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48856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3 Fusion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Strategies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48856" y="15087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Avg · Weighted · Stacking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85039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This Pipeline Is Research-Grade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633472"/>
            <a:ext cx="2743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6334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2606040"/>
            <a:ext cx="8092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Patient-level data splits eliminate cross-slice leakage that inflated prior baseline accuracy by ~40%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980944"/>
            <a:ext cx="2743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8094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2953512"/>
            <a:ext cx="8092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Focal Loss + Label Smoothing handles class imbalance and prevents overconfident predictions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328416"/>
            <a:ext cx="2743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32841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300984"/>
            <a:ext cx="8092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AMP + gradient clipping gives 2× GPU speedup while maintaining full float32-equivalent accuracy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675888"/>
            <a:ext cx="2743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6758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3648456"/>
            <a:ext cx="8092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Bootstrap BCa confidence intervals and McNemar's test provide publication-ready statistical rigor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023360"/>
            <a:ext cx="2743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02336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3995928"/>
            <a:ext cx="8092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Temperature scaling ensures clinical AI outputs are properly calibrated — not just accurate, but trustworthy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370832"/>
            <a:ext cx="2743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37083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4343400"/>
            <a:ext cx="8092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ONNX export + Grad-CAM complete the pipeline from research to deployment and interpretability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1291</Words>
  <Application>Microsoft Office PowerPoint</Application>
  <PresentationFormat>On-screen Show (16:9)</PresentationFormat>
  <Paragraphs>287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Parkinson's Brain MRI Classification — Research-Grade PyTorch</dc:title>
  <dc:subject>PptxGenJS Presentation</dc:subject>
  <dc:creator>PptxGenJS</dc:creator>
  <cp:lastModifiedBy>Sai Suraj</cp:lastModifiedBy>
  <cp:revision>2</cp:revision>
  <dcterms:created xsi:type="dcterms:W3CDTF">2026-03-25T09:06:50Z</dcterms:created>
  <dcterms:modified xsi:type="dcterms:W3CDTF">2026-03-25T10:06:12Z</dcterms:modified>
</cp:coreProperties>
</file>